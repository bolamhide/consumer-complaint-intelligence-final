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normAutofit fontScale="90000"/>
          </a:bodyPr>
          <a:p>
            <a:r>
              <a:rPr lang="en-US" altLang="en-US"/>
              <a:t>Data Science Capstone Project </a:t>
            </a:r>
            <a:br>
              <a:rPr lang="en-US" altLang="en-US"/>
            </a:br>
            <a:r>
              <a:rPr lang="en-US" altLang="en-US"/>
              <a:t> </a:t>
            </a:r>
            <a:endParaRPr lang="en-US" altLang="en-US"/>
          </a:p>
        </p:txBody>
      </p:sp>
      <p:sp>
        <p:nvSpPr>
          <p:cNvPr id="3" name="Subtitle 2"/>
          <p:cNvSpPr>
            <a:spLocks noGrp="1"/>
          </p:cNvSpPr>
          <p:nvPr>
            <p:ph type="subTitle" idx="1"/>
            <p:custDataLst>
              <p:tags r:id="rId2"/>
            </p:custDataLst>
          </p:nvPr>
        </p:nvSpPr>
        <p:spPr>
          <a:xfrm>
            <a:off x="1198880" y="3560445"/>
            <a:ext cx="9799320" cy="1800225"/>
          </a:xfrm>
        </p:spPr>
        <p:txBody>
          <a:bodyPr/>
          <a:p>
            <a:r>
              <a:rPr lang="en-US" altLang="en-US" sz="3600">
                <a:sym typeface="+mn-ea"/>
              </a:rPr>
              <a:t>Financial Services: Consumer Complaint Intelligence</a:t>
            </a:r>
            <a:endParaRPr lang="en-US" sz="3600"/>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sz="2400" b="1">
                <a:latin typeface="Arial Black" panose="020B0A04020102020204" charset="0"/>
                <a:cs typeface="Arial Black" panose="020B0A04020102020204" charset="0"/>
              </a:rPr>
              <a:t>BUSINESS PROBLEM</a:t>
            </a:r>
            <a:endParaRPr lang="en-US" sz="2400" b="1">
              <a:latin typeface="Arial Black" panose="020B0A04020102020204" charset="0"/>
              <a:cs typeface="Arial Black" panose="020B0A04020102020204" charset="0"/>
            </a:endParaRPr>
          </a:p>
        </p:txBody>
      </p:sp>
      <p:sp>
        <p:nvSpPr>
          <p:cNvPr id="3" name="Content Placeholder 2"/>
          <p:cNvSpPr>
            <a:spLocks noGrp="1"/>
          </p:cNvSpPr>
          <p:nvPr>
            <p:ph idx="1"/>
            <p:custDataLst>
              <p:tags r:id="rId2"/>
            </p:custDataLst>
          </p:nvPr>
        </p:nvSpPr>
        <p:spPr>
          <a:noFill/>
          <a:ln>
            <a:noFill/>
          </a:ln>
          <a:extLst>
            <a:ext uri="{909E8E84-426E-40DD-AFC4-6F175D3DCCD1}">
              <a14:hiddenFill xmlns:a14="http://schemas.microsoft.com/office/drawing/2010/main">
                <a:solidFill>
                  <a:schemeClr val="accent1"/>
                </a:solidFill>
              </a14:hiddenFill>
            </a:ext>
          </a:extLst>
        </p:spPr>
        <p:txBody>
          <a:bodyPr/>
          <a:p>
            <a:r>
              <a:rPr lang="en-US" altLang="en-US" sz="2000">
                <a:solidFill>
                  <a:schemeClr val="tx1"/>
                </a:solidFill>
                <a:latin typeface="Times New Roman" panose="02020603050405020304" charset="0"/>
                <a:cs typeface="Times New Roman" panose="02020603050405020304" charset="0"/>
              </a:rPr>
              <a:t>Consumer complaints received are large and they contain unstructured textual descriptions. Determining the appropriate product category manually requires staff to read and interpret individual complaints. As the volume of complaints increases, this process can require substantial time and may introduce differences in how complaints are categorized by different staff members. </a:t>
            </a:r>
            <a:endParaRPr lang="en-US" altLang="en-US" sz="2000">
              <a:solidFill>
                <a:schemeClr val="tx1"/>
              </a:solidFill>
              <a:latin typeface="Times New Roman" panose="02020603050405020304" charset="0"/>
              <a:cs typeface="Times New Roman" panose="02020603050405020304" charset="0"/>
            </a:endParaRPr>
          </a:p>
          <a:p>
            <a:r>
              <a:rPr lang="en-US" altLang="en-US" sz="2000" b="1">
                <a:solidFill>
                  <a:schemeClr val="tx1"/>
                </a:solidFill>
                <a:latin typeface="Times New Roman" panose="02020603050405020304" charset="0"/>
                <a:cs typeface="Times New Roman" panose="02020603050405020304" charset="0"/>
              </a:rPr>
              <a:t>AIM</a:t>
            </a:r>
            <a:r>
              <a:rPr lang="en-US" altLang="en-US" sz="2000">
                <a:solidFill>
                  <a:schemeClr val="tx1"/>
                </a:solidFill>
                <a:latin typeface="Times New Roman" panose="02020603050405020304" charset="0"/>
                <a:cs typeface="Times New Roman" panose="02020603050405020304" charset="0"/>
              </a:rPr>
              <a:t>: The aim of this project is to develop and evaluate a machine-learning system for automatically classifying financial service consumer complaints according to their financial product category, with the purpose of supporting more efficient complaint categorization and routing.</a:t>
            </a:r>
            <a:endParaRPr lang="en-US" altLang="en-US" sz="2000">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sz="2400">
                <a:latin typeface="Arial Black" panose="020B0A04020102020204" charset="0"/>
                <a:cs typeface="Arial Black" panose="020B0A04020102020204" charset="0"/>
              </a:rPr>
              <a:t>ALTERNATIVE APPROACH</a:t>
            </a:r>
            <a:endParaRPr lang="en-US" sz="2400">
              <a:latin typeface="Arial Black" panose="020B0A04020102020204" charset="0"/>
              <a:cs typeface="Arial Black" panose="020B0A04020102020204" charset="0"/>
            </a:endParaRPr>
          </a:p>
        </p:txBody>
      </p:sp>
      <p:sp>
        <p:nvSpPr>
          <p:cNvPr id="3" name="Content Placeholder 2"/>
          <p:cNvSpPr>
            <a:spLocks noGrp="1"/>
          </p:cNvSpPr>
          <p:nvPr>
            <p:ph idx="1"/>
            <p:custDataLst>
              <p:tags r:id="rId2"/>
            </p:custDataLst>
          </p:nvPr>
        </p:nvSpPr>
        <p:spPr/>
        <p:txBody>
          <a:bodyPr>
            <a:normAutofit lnSpcReduction="10000"/>
          </a:bodyPr>
          <a:p>
            <a:pPr>
              <a:spcAft>
                <a:spcPts val="900"/>
              </a:spcAft>
              <a:defRPr sz="1900">
                <a:solidFill>
                  <a:srgbClr val="232323"/>
                </a:solidFill>
              </a:defRPr>
            </a:pPr>
            <a:r>
              <a:rPr sz="2000">
                <a:latin typeface="Times New Roman" panose="02020603050405020304" charset="0"/>
                <a:cs typeface="Times New Roman" panose="02020603050405020304" charset="0"/>
                <a:sym typeface="+mn-ea"/>
              </a:rPr>
              <a:t>Priority scoring: </a:t>
            </a:r>
            <a:r>
              <a:rPr lang="en-US" altLang="en-US" sz="2000">
                <a:latin typeface="Times New Roman" panose="02020603050405020304" charset="0"/>
                <a:cs typeface="Times New Roman" panose="02020603050405020304" charset="0"/>
                <a:sym typeface="+mn-ea"/>
              </a:rPr>
              <a:t>An alternative approach to solve the business problem is using priority scoring of the consumer complaints to train the model.Financial complaints keywords will be defined and given a score to denotes the urgency of the complaint. The urgency level was divided into three: high, low and medium. The ML model then routes the complaint to the response team who will respond to the complaints based on the level of urgency.</a:t>
            </a:r>
            <a:endParaRPr lang="en-US" altLang="en-US" sz="2000">
              <a:latin typeface="Times New Roman" panose="02020603050405020304" charset="0"/>
              <a:cs typeface="Times New Roman" panose="02020603050405020304" charset="0"/>
              <a:sym typeface="+mn-ea"/>
            </a:endParaRPr>
          </a:p>
          <a:p>
            <a:pPr>
              <a:spcAft>
                <a:spcPts val="900"/>
              </a:spcAft>
              <a:defRPr sz="1900">
                <a:solidFill>
                  <a:srgbClr val="232323"/>
                </a:solidFill>
              </a:defRPr>
            </a:pPr>
            <a:r>
              <a:rPr lang="en-US" altLang="en-US" sz="2000">
                <a:latin typeface="Times New Roman" panose="02020603050405020304" charset="0"/>
                <a:cs typeface="Times New Roman" panose="02020603050405020304" charset="0"/>
                <a:sym typeface="+mn-ea"/>
              </a:rPr>
              <a:t>The major drawback is that the model can incorrectly categorize complaints if consumer use the synonym of a keyword, and it can also miss or incorrectly assign low score to a urgent complaints thereby increasing company’s response time and wasting customer’s time. </a:t>
            </a:r>
            <a:endParaRPr lang="en-US" sz="20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08400" y="317570"/>
            <a:ext cx="10969200" cy="705600"/>
          </a:xfrm>
        </p:spPr>
        <p:txBody>
          <a:bodyPr/>
          <a:p>
            <a:pPr algn="ctr"/>
            <a:r>
              <a:rPr lang="en-US" sz="2400">
                <a:latin typeface="Arial Black" panose="020B0A04020102020204" charset="0"/>
                <a:cs typeface="Arial Black" panose="020B0A04020102020204" charset="0"/>
              </a:rPr>
              <a:t>DATA OVERVIEW AND CRITIQUE</a:t>
            </a:r>
            <a:endParaRPr lang="en-US" sz="2400">
              <a:latin typeface="Arial Black" panose="020B0A04020102020204" charset="0"/>
              <a:cs typeface="Arial Black" panose="020B0A04020102020204" charset="0"/>
            </a:endParaRPr>
          </a:p>
        </p:txBody>
      </p:sp>
      <p:sp>
        <p:nvSpPr>
          <p:cNvPr id="3" name="Content Placeholder 2"/>
          <p:cNvSpPr>
            <a:spLocks noGrp="1"/>
          </p:cNvSpPr>
          <p:nvPr>
            <p:ph idx="1"/>
            <p:custDataLst>
              <p:tags r:id="rId2"/>
            </p:custDataLst>
          </p:nvPr>
        </p:nvSpPr>
        <p:spPr>
          <a:xfrm>
            <a:off x="608400" y="1049710"/>
            <a:ext cx="10969200" cy="4759200"/>
          </a:xfrm>
        </p:spPr>
        <p:txBody>
          <a:bodyPr>
            <a:noAutofit/>
          </a:bodyPr>
          <a:p>
            <a:pPr>
              <a:spcAft>
                <a:spcPts val="1000"/>
              </a:spcAft>
              <a:defRPr sz="2000"/>
            </a:pPr>
            <a:r>
              <a:rPr sz="1900">
                <a:solidFill>
                  <a:schemeClr val="tx1"/>
                </a:solidFill>
                <a:latin typeface="Times New Roman" panose="02020603050405020304" charset="0"/>
                <a:cs typeface="Times New Roman" panose="02020603050405020304" charset="0"/>
                <a:sym typeface="+mn-ea"/>
              </a:rPr>
              <a:t>Dataset: </a:t>
            </a:r>
            <a:r>
              <a:rPr lang="en-US" altLang="en-US" sz="1900">
                <a:solidFill>
                  <a:schemeClr val="tx1"/>
                </a:solidFill>
                <a:latin typeface="Times New Roman" panose="02020603050405020304" charset="0"/>
                <a:cs typeface="Times New Roman" panose="02020603050405020304" charset="0"/>
                <a:sym typeface="+mn-ea"/>
              </a:rPr>
              <a:t>This is a public dataset from the US Consumer Financial Protection Bureau (CFPB) mirrored on Kaggle. Each row is a complaint filed by a consumer against a financial services company (</a:t>
            </a:r>
            <a:r>
              <a:rPr sz="1900">
                <a:solidFill>
                  <a:schemeClr val="tx1"/>
                </a:solidFill>
                <a:latin typeface="Times New Roman" panose="02020603050405020304" charset="0"/>
                <a:cs typeface="Times New Roman" panose="02020603050405020304" charset="0"/>
                <a:sym typeface="+mn-ea"/>
              </a:rPr>
              <a:t>500 complaints and 18 columns</a:t>
            </a:r>
            <a:r>
              <a:rPr lang="en-US" sz="1900">
                <a:solidFill>
                  <a:schemeClr val="tx1"/>
                </a:solidFill>
                <a:latin typeface="Times New Roman" panose="02020603050405020304" charset="0"/>
                <a:cs typeface="Times New Roman" panose="02020603050405020304" charset="0"/>
                <a:sym typeface="+mn-ea"/>
              </a:rPr>
              <a:t>)</a:t>
            </a:r>
            <a:r>
              <a:rPr sz="1900">
                <a:solidFill>
                  <a:schemeClr val="tx1"/>
                </a:solidFill>
                <a:latin typeface="Times New Roman" panose="02020603050405020304" charset="0"/>
                <a:cs typeface="Times New Roman" panose="02020603050405020304" charset="0"/>
                <a:sym typeface="+mn-ea"/>
              </a:rPr>
              <a:t>.</a:t>
            </a:r>
            <a:endParaRPr sz="1900">
              <a:solidFill>
                <a:schemeClr val="tx1"/>
              </a:solidFill>
              <a:latin typeface="Times New Roman" panose="02020603050405020304" charset="0"/>
              <a:cs typeface="Times New Roman" panose="02020603050405020304" charset="0"/>
              <a:sym typeface="+mn-ea"/>
            </a:endParaRPr>
          </a:p>
          <a:p>
            <a:pPr>
              <a:spcAft>
                <a:spcPts val="1000"/>
              </a:spcAft>
              <a:defRPr sz="2000"/>
            </a:pPr>
            <a:r>
              <a:rPr sz="1900">
                <a:solidFill>
                  <a:schemeClr val="tx1"/>
                </a:solidFill>
                <a:latin typeface="Times New Roman" panose="02020603050405020304" charset="0"/>
                <a:cs typeface="Times New Roman" panose="02020603050405020304" charset="0"/>
                <a:sym typeface="+mn-ea"/>
              </a:rPr>
              <a:t>Only 200 of 500 complaints contain a published consuer narrative; 300 narratives are missing.</a:t>
            </a:r>
            <a:endParaRPr sz="1900">
              <a:solidFill>
                <a:schemeClr val="tx1"/>
              </a:solidFill>
              <a:latin typeface="Times New Roman" panose="02020603050405020304" charset="0"/>
              <a:cs typeface="Times New Roman" panose="02020603050405020304" charset="0"/>
              <a:sym typeface="+mn-ea"/>
            </a:endParaRPr>
          </a:p>
          <a:p>
            <a:pPr>
              <a:spcAft>
                <a:spcPts val="1000"/>
              </a:spcAft>
              <a:defRPr sz="2000"/>
            </a:pPr>
            <a:r>
              <a:rPr sz="1900">
                <a:solidFill>
                  <a:schemeClr val="tx1"/>
                </a:solidFill>
                <a:latin typeface="Times New Roman" panose="02020603050405020304" charset="0"/>
                <a:cs typeface="Times New Roman" panose="02020603050405020304" charset="0"/>
                <a:sym typeface="+mn-ea"/>
              </a:rPr>
              <a:t>The largest product category </a:t>
            </a:r>
            <a:r>
              <a:rPr lang="en-US" sz="1900">
                <a:solidFill>
                  <a:schemeClr val="tx1"/>
                </a:solidFill>
                <a:latin typeface="Times New Roman" panose="02020603050405020304" charset="0"/>
                <a:cs typeface="Times New Roman" panose="02020603050405020304" charset="0"/>
                <a:sym typeface="+mn-ea"/>
              </a:rPr>
              <a:t>takes more than 80% of the dataset</a:t>
            </a:r>
            <a:r>
              <a:rPr sz="1900">
                <a:solidFill>
                  <a:schemeClr val="tx1"/>
                </a:solidFill>
                <a:latin typeface="Times New Roman" panose="02020603050405020304" charset="0"/>
                <a:cs typeface="Times New Roman" panose="02020603050405020304" charset="0"/>
                <a:sym typeface="+mn-ea"/>
              </a:rPr>
              <a:t>, showing severe imbalance.</a:t>
            </a:r>
            <a:endParaRPr sz="1900">
              <a:solidFill>
                <a:schemeClr val="tx1"/>
              </a:solidFill>
              <a:latin typeface="Times New Roman" panose="02020603050405020304" charset="0"/>
              <a:cs typeface="Times New Roman" panose="02020603050405020304" charset="0"/>
              <a:sym typeface="+mn-ea"/>
            </a:endParaRPr>
          </a:p>
          <a:p>
            <a:pPr>
              <a:spcAft>
                <a:spcPts val="1000"/>
              </a:spcAft>
              <a:defRPr sz="2000"/>
            </a:pPr>
            <a:r>
              <a:rPr sz="1900">
                <a:solidFill>
                  <a:schemeClr val="tx1"/>
                </a:solidFill>
                <a:latin typeface="Times New Roman" panose="02020603050405020304" charset="0"/>
                <a:cs typeface="Times New Roman" panose="02020603050405020304" charset="0"/>
                <a:sym typeface="+mn-ea"/>
              </a:rPr>
              <a:t>Web is the dominant submission channel, so the data </a:t>
            </a:r>
            <a:r>
              <a:rPr lang="en-US" sz="1900">
                <a:solidFill>
                  <a:schemeClr val="tx1"/>
                </a:solidFill>
                <a:latin typeface="Times New Roman" panose="02020603050405020304" charset="0"/>
                <a:cs typeface="Times New Roman" panose="02020603050405020304" charset="0"/>
                <a:sym typeface="+mn-ea"/>
              </a:rPr>
              <a:t>does </a:t>
            </a:r>
            <a:r>
              <a:rPr sz="1900">
                <a:solidFill>
                  <a:schemeClr val="tx1"/>
                </a:solidFill>
                <a:latin typeface="Times New Roman" panose="02020603050405020304" charset="0"/>
                <a:cs typeface="Times New Roman" panose="02020603050405020304" charset="0"/>
                <a:sym typeface="+mn-ea"/>
              </a:rPr>
              <a:t>not represent all complaint channels equally.</a:t>
            </a:r>
            <a:endParaRPr sz="1900">
              <a:solidFill>
                <a:schemeClr val="tx1"/>
              </a:solidFill>
              <a:latin typeface="Times New Roman" panose="02020603050405020304" charset="0"/>
              <a:cs typeface="Times New Roman" panose="02020603050405020304" charset="0"/>
              <a:sym typeface="+mn-ea"/>
            </a:endParaRPr>
          </a:p>
          <a:p>
            <a:pPr>
              <a:spcAft>
                <a:spcPts val="1000"/>
              </a:spcAft>
              <a:defRPr sz="2000"/>
            </a:pPr>
            <a:r>
              <a:rPr lang="en-US" altLang="en-US" sz="1900">
                <a:solidFill>
                  <a:schemeClr val="tx1"/>
                </a:solidFill>
                <a:latin typeface="Times New Roman" panose="02020603050405020304" charset="0"/>
                <a:cs typeface="Times New Roman" panose="02020603050405020304" charset="0"/>
                <a:sym typeface="+mn-ea"/>
              </a:rPr>
              <a:t>Geographic representation: States are not necessarily represented equally.</a:t>
            </a:r>
            <a:endParaRPr lang="en-US" altLang="en-US" sz="1900">
              <a:solidFill>
                <a:schemeClr val="tx1"/>
              </a:solidFill>
              <a:latin typeface="Times New Roman" panose="02020603050405020304" charset="0"/>
              <a:cs typeface="Times New Roman" panose="02020603050405020304" charset="0"/>
              <a:sym typeface="+mn-ea"/>
            </a:endParaRPr>
          </a:p>
          <a:p>
            <a:pPr>
              <a:spcAft>
                <a:spcPts val="1000"/>
              </a:spcAft>
              <a:defRPr sz="2000"/>
            </a:pPr>
            <a:r>
              <a:rPr sz="1900">
                <a:solidFill>
                  <a:schemeClr val="tx1"/>
                </a:solidFill>
                <a:latin typeface="Times New Roman" panose="02020603050405020304" charset="0"/>
                <a:cs typeface="Times New Roman" panose="02020603050405020304" charset="0"/>
                <a:sym typeface="+mn-ea"/>
              </a:rPr>
              <a:t>The data represents consumers who used the federal complaint mechanism and should not be treated as a random sample of all consumers.</a:t>
            </a:r>
            <a:endParaRPr sz="1900">
              <a:solidFill>
                <a:schemeClr val="tx1"/>
              </a:solidFill>
              <a:latin typeface="Times New Roman" panose="02020603050405020304" charset="0"/>
              <a:cs typeface="Times New Roman" panose="02020603050405020304" charset="0"/>
              <a:sym typeface="+mn-ea"/>
            </a:endParaRPr>
          </a:p>
          <a:p>
            <a:endParaRPr lang="en-US" sz="1700">
              <a:solidFill>
                <a:schemeClr val="tx1"/>
              </a:solidFill>
              <a:latin typeface="Times New Roman" panose="02020603050405020304" charset="0"/>
              <a:cs typeface="Times New Roman" panose="02020603050405020304" charset="0"/>
              <a:sym typeface="+mn-ea"/>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sz="2400">
                <a:latin typeface="Arial Black" panose="020B0A04020102020204" charset="0"/>
                <a:cs typeface="Arial Black" panose="020B0A04020102020204" charset="0"/>
              </a:rPr>
              <a:t>EXPLORATORY DATA ANALYSIS(EDA)</a:t>
            </a:r>
            <a:endParaRPr lang="en-US" sz="2400">
              <a:latin typeface="Arial Black" panose="020B0A04020102020204" charset="0"/>
              <a:cs typeface="Arial Black" panose="020B0A04020102020204" charset="0"/>
            </a:endParaRPr>
          </a:p>
        </p:txBody>
      </p:sp>
      <p:sp>
        <p:nvSpPr>
          <p:cNvPr id="3" name="Content Placeholder 2"/>
          <p:cNvSpPr>
            <a:spLocks noGrp="1"/>
          </p:cNvSpPr>
          <p:nvPr>
            <p:ph idx="1"/>
            <p:custDataLst>
              <p:tags r:id="rId2"/>
            </p:custDataLst>
          </p:nvPr>
        </p:nvSpPr>
        <p:spPr/>
        <p:txBody>
          <a:bodyPr>
            <a:normAutofit/>
          </a:bodyPr>
          <a:p>
            <a:pPr>
              <a:spcAft>
                <a:spcPts val="900"/>
              </a:spcAft>
              <a:defRPr sz="1800">
                <a:solidFill>
                  <a:srgbClr val="232323"/>
                </a:solidFill>
              </a:defRPr>
            </a:pPr>
            <a:r>
              <a:rPr sz="2000">
                <a:solidFill>
                  <a:schemeClr val="tx1"/>
                </a:solidFill>
                <a:latin typeface="Times New Roman" panose="02020603050405020304" charset="0"/>
                <a:cs typeface="Times New Roman" panose="02020603050405020304" charset="0"/>
                <a:sym typeface="+mn-ea"/>
              </a:rPr>
              <a:t>Narrative availability is a major limitation: 60% of the original complaints have no published narrative.</a:t>
            </a:r>
            <a:r>
              <a:rPr lang="en-US" sz="2000">
                <a:solidFill>
                  <a:schemeClr val="tx1"/>
                </a:solidFill>
                <a:latin typeface="Times New Roman" panose="02020603050405020304" charset="0"/>
                <a:cs typeface="Times New Roman" panose="02020603050405020304" charset="0"/>
                <a:sym typeface="+mn-ea"/>
              </a:rPr>
              <a:t> </a:t>
            </a:r>
            <a:endParaRPr sz="2000">
              <a:solidFill>
                <a:schemeClr val="tx1"/>
              </a:solidFill>
              <a:latin typeface="Times New Roman" panose="02020603050405020304" charset="0"/>
              <a:cs typeface="Times New Roman" panose="02020603050405020304" charset="0"/>
              <a:sym typeface="+mn-ea"/>
            </a:endParaRPr>
          </a:p>
          <a:p>
            <a:pPr>
              <a:spcAft>
                <a:spcPts val="900"/>
              </a:spcAft>
              <a:defRPr sz="1800">
                <a:solidFill>
                  <a:srgbClr val="232323"/>
                </a:solidFill>
              </a:defRPr>
            </a:pPr>
            <a:r>
              <a:rPr sz="2000">
                <a:solidFill>
                  <a:schemeClr val="tx1"/>
                </a:solidFill>
                <a:latin typeface="Times New Roman" panose="02020603050405020304" charset="0"/>
                <a:cs typeface="Times New Roman" panose="02020603050405020304" charset="0"/>
                <a:sym typeface="+mn-ea"/>
              </a:rPr>
              <a:t>Text characteristics were examined before modeling, including narrative length and basic text patterns.</a:t>
            </a:r>
            <a:endParaRPr sz="2000">
              <a:solidFill>
                <a:schemeClr val="tx1"/>
              </a:solidFill>
              <a:latin typeface="Times New Roman" panose="02020603050405020304" charset="0"/>
              <a:cs typeface="Times New Roman" panose="02020603050405020304" charset="0"/>
              <a:sym typeface="+mn-ea"/>
            </a:endParaRPr>
          </a:p>
          <a:p>
            <a:pPr>
              <a:spcAft>
                <a:spcPts val="900"/>
              </a:spcAft>
              <a:defRPr sz="1800">
                <a:solidFill>
                  <a:srgbClr val="232323"/>
                </a:solidFill>
              </a:defRPr>
            </a:pPr>
            <a:r>
              <a:rPr sz="2000">
                <a:solidFill>
                  <a:schemeClr val="tx1"/>
                </a:solidFill>
                <a:latin typeface="Times New Roman" panose="02020603050405020304" charset="0"/>
                <a:cs typeface="Times New Roman" panose="02020603050405020304" charset="0"/>
                <a:sym typeface="+mn-ea"/>
              </a:rPr>
              <a:t>Product distribution after narrative filtering was highly skewed: 83.0% Debt collection, 16.5% Credit reporting/repair/other, 0.5% Credit reporting.</a:t>
            </a:r>
            <a:endParaRPr sz="2000">
              <a:solidFill>
                <a:schemeClr val="tx1"/>
              </a:solidFill>
              <a:latin typeface="Times New Roman" panose="02020603050405020304" charset="0"/>
              <a:cs typeface="Times New Roman" panose="02020603050405020304" charset="0"/>
              <a:sym typeface="+mn-ea"/>
            </a:endParaRPr>
          </a:p>
          <a:p>
            <a:pPr>
              <a:spcAft>
                <a:spcPts val="900"/>
              </a:spcAft>
              <a:defRPr sz="1800">
                <a:solidFill>
                  <a:srgbClr val="232323"/>
                </a:solidFill>
              </a:defRPr>
            </a:pPr>
            <a:r>
              <a:rPr sz="2000">
                <a:solidFill>
                  <a:schemeClr val="tx1"/>
                </a:solidFill>
                <a:latin typeface="Times New Roman" panose="02020603050405020304" charset="0"/>
                <a:cs typeface="Times New Roman" panose="02020603050405020304" charset="0"/>
                <a:sym typeface="+mn-ea"/>
              </a:rPr>
              <a:t>The notebook also examined complaint tim</a:t>
            </a:r>
            <a:r>
              <a:rPr lang="en-US" sz="2000">
                <a:solidFill>
                  <a:schemeClr val="tx1"/>
                </a:solidFill>
                <a:latin typeface="Times New Roman" panose="02020603050405020304" charset="0"/>
                <a:cs typeface="Times New Roman" panose="02020603050405020304" charset="0"/>
                <a:sym typeface="+mn-ea"/>
              </a:rPr>
              <a:t>e patterns</a:t>
            </a:r>
            <a:r>
              <a:rPr sz="2000">
                <a:solidFill>
                  <a:schemeClr val="tx1"/>
                </a:solidFill>
                <a:latin typeface="Times New Roman" panose="02020603050405020304" charset="0"/>
                <a:cs typeface="Times New Roman" panose="02020603050405020304" charset="0"/>
                <a:sym typeface="+mn-ea"/>
              </a:rPr>
              <a:t>, submission channel, states, categorical distributions, and text characteristics.</a:t>
            </a:r>
            <a:endParaRPr sz="2000">
              <a:solidFill>
                <a:schemeClr val="tx1"/>
              </a:solidFill>
              <a:latin typeface="Times New Roman" panose="02020603050405020304" charset="0"/>
              <a:cs typeface="Times New Roman" panose="02020603050405020304" charset="0"/>
              <a:sym typeface="+mn-ea"/>
            </a:endParaRPr>
          </a:p>
          <a:p>
            <a:pPr>
              <a:spcAft>
                <a:spcPts val="1000"/>
              </a:spcAft>
              <a:defRPr sz="2000"/>
            </a:pPr>
            <a:r>
              <a:rPr sz="2000">
                <a:solidFill>
                  <a:schemeClr val="tx1"/>
                </a:solidFill>
                <a:latin typeface="Times New Roman" panose="02020603050405020304" charset="0"/>
                <a:cs typeface="Times New Roman" panose="02020603050405020304" charset="0"/>
                <a:sym typeface="+mn-ea"/>
              </a:rPr>
              <a:t>Key EDA finding: the dataset provides limited narrative coverage and strong class imbalance, which directly affects model evaluation.</a:t>
            </a:r>
            <a:endParaRPr sz="2000">
              <a:solidFill>
                <a:schemeClr val="tx1"/>
              </a:solidFill>
              <a:latin typeface="Times New Roman" panose="02020603050405020304" charset="0"/>
              <a:cs typeface="Times New Roman" panose="02020603050405020304" charset="0"/>
              <a:sym typeface="+mn-ea"/>
            </a:endParaRPr>
          </a:p>
          <a:p>
            <a:pPr>
              <a:spcAft>
                <a:spcPts val="900"/>
              </a:spcAft>
              <a:defRPr sz="1800">
                <a:solidFill>
                  <a:srgbClr val="232323"/>
                </a:solidFill>
              </a:defRPr>
            </a:pPr>
            <a:endParaRPr>
              <a:solidFill>
                <a:schemeClr val="tx1"/>
              </a:solidFill>
              <a:sym typeface="+mn-ea"/>
            </a:endParaRPr>
          </a:p>
          <a:p>
            <a:endParaRPr lang="en-US">
              <a:solidFill>
                <a:schemeClr val="tx1"/>
              </a:solidFill>
              <a:sym typeface="+mn-ea"/>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sz="2400">
                <a:latin typeface="Arial Black" panose="020B0A04020102020204" charset="0"/>
                <a:cs typeface="Arial Black" panose="020B0A04020102020204" charset="0"/>
              </a:rPr>
              <a:t>MACHINE LEARNING MODEL</a:t>
            </a:r>
            <a:endParaRPr lang="en-US" sz="2400">
              <a:latin typeface="Arial Black" panose="020B0A04020102020204" charset="0"/>
              <a:cs typeface="Arial Black" panose="020B0A04020102020204" charset="0"/>
            </a:endParaRPr>
          </a:p>
        </p:txBody>
      </p:sp>
      <p:sp>
        <p:nvSpPr>
          <p:cNvPr id="3" name="Content Placeholder 2"/>
          <p:cNvSpPr>
            <a:spLocks noGrp="1"/>
          </p:cNvSpPr>
          <p:nvPr>
            <p:ph idx="1"/>
            <p:custDataLst>
              <p:tags r:id="rId2"/>
            </p:custDataLst>
          </p:nvPr>
        </p:nvSpPr>
        <p:spPr/>
        <p:txBody>
          <a:bodyPr/>
          <a:p>
            <a:pPr>
              <a:spcAft>
                <a:spcPts val="900"/>
              </a:spcAft>
              <a:defRPr sz="1600">
                <a:solidFill>
                  <a:srgbClr val="232323"/>
                </a:solidFill>
              </a:defRPr>
            </a:pPr>
            <a:r>
              <a:rPr sz="2000">
                <a:solidFill>
                  <a:schemeClr val="tx1"/>
                </a:solidFill>
                <a:latin typeface="Times New Roman" panose="02020603050405020304" charset="0"/>
                <a:cs typeface="Times New Roman" panose="02020603050405020304" charset="0"/>
                <a:sym typeface="+mn-ea"/>
              </a:rPr>
              <a:t>Baseline: majority-class prediction to establish the minimum benchmark</a:t>
            </a:r>
            <a:r>
              <a:rPr lang="en-US" sz="2000">
                <a:solidFill>
                  <a:schemeClr val="tx1"/>
                </a:solidFill>
                <a:latin typeface="Times New Roman" panose="02020603050405020304" charset="0"/>
                <a:cs typeface="Times New Roman" panose="02020603050405020304" charset="0"/>
                <a:sym typeface="+mn-ea"/>
              </a:rPr>
              <a:t> (Debt collection)</a:t>
            </a:r>
            <a:r>
              <a:rPr sz="2000">
                <a:solidFill>
                  <a:schemeClr val="tx1"/>
                </a:solidFill>
                <a:latin typeface="Times New Roman" panose="02020603050405020304" charset="0"/>
                <a:cs typeface="Times New Roman" panose="02020603050405020304" charset="0"/>
                <a:sym typeface="+mn-ea"/>
              </a:rPr>
              <a:t>.</a:t>
            </a:r>
            <a:endParaRPr sz="2000">
              <a:solidFill>
                <a:schemeClr val="tx1"/>
              </a:solidFill>
              <a:latin typeface="Times New Roman" panose="02020603050405020304" charset="0"/>
              <a:cs typeface="Times New Roman" panose="02020603050405020304" charset="0"/>
              <a:sym typeface="+mn-ea"/>
            </a:endParaRPr>
          </a:p>
          <a:p>
            <a:pPr>
              <a:spcAft>
                <a:spcPts val="900"/>
              </a:spcAft>
              <a:defRPr sz="1600">
                <a:solidFill>
                  <a:srgbClr val="232323"/>
                </a:solidFill>
              </a:defRPr>
            </a:pPr>
            <a:r>
              <a:rPr sz="2000">
                <a:solidFill>
                  <a:schemeClr val="tx1"/>
                </a:solidFill>
                <a:latin typeface="Times New Roman" panose="02020603050405020304" charset="0"/>
                <a:cs typeface="Times New Roman" panose="02020603050405020304" charset="0"/>
                <a:sym typeface="+mn-ea"/>
              </a:rPr>
              <a:t>Primary model: TF-IDF </a:t>
            </a:r>
            <a:r>
              <a:rPr lang="en-US" sz="2000">
                <a:solidFill>
                  <a:schemeClr val="tx1"/>
                </a:solidFill>
                <a:latin typeface="Times New Roman" panose="02020603050405020304" charset="0"/>
                <a:cs typeface="Times New Roman" panose="02020603050405020304" charset="0"/>
                <a:sym typeface="+mn-ea"/>
              </a:rPr>
              <a:t>vectorization</a:t>
            </a:r>
            <a:r>
              <a:rPr sz="2000">
                <a:solidFill>
                  <a:schemeClr val="tx1"/>
                </a:solidFill>
                <a:latin typeface="Times New Roman" panose="02020603050405020304" charset="0"/>
                <a:cs typeface="Times New Roman" panose="02020603050405020304" charset="0"/>
                <a:sym typeface="+mn-ea"/>
              </a:rPr>
              <a:t> + Logistic Regression.</a:t>
            </a:r>
            <a:endParaRPr sz="2000">
              <a:solidFill>
                <a:schemeClr val="tx1"/>
              </a:solidFill>
              <a:latin typeface="Times New Roman" panose="02020603050405020304" charset="0"/>
              <a:cs typeface="Times New Roman" panose="02020603050405020304" charset="0"/>
              <a:sym typeface="+mn-ea"/>
            </a:endParaRPr>
          </a:p>
          <a:p>
            <a:pPr>
              <a:spcAft>
                <a:spcPts val="900"/>
              </a:spcAft>
              <a:defRPr sz="1600">
                <a:solidFill>
                  <a:srgbClr val="232323"/>
                </a:solidFill>
              </a:defRPr>
            </a:pPr>
            <a:r>
              <a:rPr sz="2000">
                <a:solidFill>
                  <a:schemeClr val="tx1"/>
                </a:solidFill>
                <a:latin typeface="Times New Roman" panose="02020603050405020304" charset="0"/>
                <a:cs typeface="Times New Roman" panose="02020603050405020304" charset="0"/>
                <a:sym typeface="+mn-ea"/>
              </a:rPr>
              <a:t>Class imbalance handling: class_weight="balanced".</a:t>
            </a:r>
            <a:endParaRPr sz="2000">
              <a:solidFill>
                <a:schemeClr val="tx1"/>
              </a:solidFill>
              <a:latin typeface="Times New Roman" panose="02020603050405020304" charset="0"/>
              <a:cs typeface="Times New Roman" panose="02020603050405020304" charset="0"/>
              <a:sym typeface="+mn-ea"/>
            </a:endParaRPr>
          </a:p>
          <a:p>
            <a:pPr>
              <a:spcAft>
                <a:spcPts val="900"/>
              </a:spcAft>
              <a:defRPr sz="1600">
                <a:solidFill>
                  <a:srgbClr val="232323"/>
                </a:solidFill>
              </a:defRPr>
            </a:pPr>
            <a:r>
              <a:rPr sz="2000">
                <a:solidFill>
                  <a:schemeClr val="tx1"/>
                </a:solidFill>
                <a:latin typeface="Times New Roman" panose="02020603050405020304" charset="0"/>
                <a:cs typeface="Times New Roman" panose="02020603050405020304" charset="0"/>
                <a:sym typeface="+mn-ea"/>
              </a:rPr>
              <a:t>Accuracy alone makes the baseline look better; the project therefore uses F1</a:t>
            </a:r>
            <a:r>
              <a:rPr lang="en-US" sz="2000">
                <a:solidFill>
                  <a:schemeClr val="tx1"/>
                </a:solidFill>
                <a:latin typeface="Times New Roman" panose="02020603050405020304" charset="0"/>
                <a:cs typeface="Times New Roman" panose="02020603050405020304" charset="0"/>
                <a:sym typeface="+mn-ea"/>
              </a:rPr>
              <a:t>, precison, and recall </a:t>
            </a:r>
            <a:r>
              <a:rPr sz="2000">
                <a:solidFill>
                  <a:schemeClr val="tx1"/>
                </a:solidFill>
                <a:latin typeface="Times New Roman" panose="02020603050405020304" charset="0"/>
                <a:cs typeface="Times New Roman" panose="02020603050405020304" charset="0"/>
                <a:sym typeface="+mn-ea"/>
              </a:rPr>
              <a:t>to judge balanced class performance.</a:t>
            </a:r>
            <a:endParaRPr sz="2000">
              <a:solidFill>
                <a:schemeClr val="tx1"/>
              </a:solidFill>
              <a:latin typeface="Times New Roman" panose="02020603050405020304" charset="0"/>
              <a:cs typeface="Times New Roman" panose="02020603050405020304" charset="0"/>
              <a:sym typeface="+mn-ea"/>
            </a:endParaRPr>
          </a:p>
          <a:p>
            <a:r>
              <a:rPr lang="en-US" sz="2000">
                <a:solidFill>
                  <a:schemeClr val="tx1"/>
                </a:solidFill>
                <a:latin typeface="Times New Roman" panose="02020603050405020304" charset="0"/>
                <a:cs typeface="Times New Roman" panose="02020603050405020304" charset="0"/>
                <a:sym typeface="+mn-ea"/>
              </a:rPr>
              <a:t>Threshold 0.5 provided the larger coverage and it was used for the model. </a:t>
            </a:r>
            <a:endParaRPr lang="en-US" sz="2000">
              <a:solidFill>
                <a:schemeClr val="tx1"/>
              </a:solidFill>
              <a:latin typeface="Times New Roman" panose="02020603050405020304" charset="0"/>
              <a:cs typeface="Times New Roman" panose="02020603050405020304" charset="0"/>
              <a:sym typeface="+mn-ea"/>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sz="2400">
                <a:latin typeface="Arial Black" panose="020B0A04020102020204" charset="0"/>
                <a:cs typeface="Arial Black" panose="020B0A04020102020204" charset="0"/>
              </a:rPr>
              <a:t>MACHINE LEARNING VARIABLES</a:t>
            </a:r>
            <a:endParaRPr lang="en-US" sz="2400">
              <a:latin typeface="Arial Black" panose="020B0A04020102020204" charset="0"/>
              <a:cs typeface="Arial Black" panose="020B0A04020102020204" charset="0"/>
            </a:endParaRPr>
          </a:p>
        </p:txBody>
      </p:sp>
      <p:sp>
        <p:nvSpPr>
          <p:cNvPr id="3" name="Content Placeholder 2"/>
          <p:cNvSpPr>
            <a:spLocks noGrp="1"/>
          </p:cNvSpPr>
          <p:nvPr>
            <p:ph idx="1"/>
            <p:custDataLst>
              <p:tags r:id="rId2"/>
            </p:custDataLst>
          </p:nvPr>
        </p:nvSpPr>
        <p:spPr/>
        <p:txBody>
          <a:bodyPr>
            <a:normAutofit lnSpcReduction="20000"/>
          </a:bodyPr>
          <a:p>
            <a:pPr>
              <a:spcAft>
                <a:spcPts val="900"/>
              </a:spcAft>
              <a:defRPr sz="1900">
                <a:solidFill>
                  <a:srgbClr val="232323"/>
                </a:solidFill>
              </a:defRPr>
            </a:pPr>
            <a:r>
              <a:rPr sz="2000">
                <a:latin typeface="Times New Roman" panose="02020603050405020304" charset="0"/>
                <a:cs typeface="Times New Roman" panose="02020603050405020304" charset="0"/>
                <a:sym typeface="+mn-ea"/>
              </a:rPr>
              <a:t>Target (y): product </a:t>
            </a:r>
            <a:r>
              <a:rPr lang="en-US" sz="2000">
                <a:latin typeface="Times New Roman" panose="02020603050405020304" charset="0"/>
                <a:cs typeface="Times New Roman" panose="02020603050405020304" charset="0"/>
                <a:sym typeface="+mn-ea"/>
              </a:rPr>
              <a:t>(</a:t>
            </a:r>
            <a:r>
              <a:rPr sz="2000">
                <a:latin typeface="Times New Roman" panose="02020603050405020304" charset="0"/>
                <a:cs typeface="Times New Roman" panose="02020603050405020304" charset="0"/>
                <a:sym typeface="+mn-ea"/>
              </a:rPr>
              <a:t>the financial product category to be predicted</a:t>
            </a:r>
            <a:r>
              <a:rPr lang="en-US" sz="2000">
                <a:latin typeface="Times New Roman" panose="02020603050405020304" charset="0"/>
                <a:cs typeface="Times New Roman" panose="02020603050405020304" charset="0"/>
                <a:sym typeface="+mn-ea"/>
              </a:rPr>
              <a:t>)</a:t>
            </a:r>
            <a:r>
              <a:rPr sz="2000">
                <a:latin typeface="Times New Roman" panose="02020603050405020304" charset="0"/>
                <a:cs typeface="Times New Roman" panose="02020603050405020304" charset="0"/>
                <a:sym typeface="+mn-ea"/>
              </a:rPr>
              <a:t>.</a:t>
            </a:r>
            <a:endParaRPr sz="2000">
              <a:latin typeface="Times New Roman" panose="02020603050405020304" charset="0"/>
              <a:cs typeface="Times New Roman" panose="02020603050405020304" charset="0"/>
              <a:sym typeface="+mn-ea"/>
            </a:endParaRPr>
          </a:p>
          <a:p>
            <a:pPr>
              <a:spcAft>
                <a:spcPts val="900"/>
              </a:spcAft>
              <a:defRPr sz="1900">
                <a:solidFill>
                  <a:srgbClr val="232323"/>
                </a:solidFill>
              </a:defRPr>
            </a:pPr>
            <a:r>
              <a:rPr sz="2000">
                <a:latin typeface="Times New Roman" panose="02020603050405020304" charset="0"/>
                <a:cs typeface="Times New Roman" panose="02020603050405020304" charset="0"/>
                <a:sym typeface="+mn-ea"/>
              </a:rPr>
              <a:t>Feature (X): consumer_complaint_narrative </a:t>
            </a:r>
            <a:r>
              <a:rPr lang="en-US" sz="2000">
                <a:latin typeface="Times New Roman" panose="02020603050405020304" charset="0"/>
                <a:cs typeface="Times New Roman" panose="02020603050405020304" charset="0"/>
                <a:sym typeface="+mn-ea"/>
              </a:rPr>
              <a:t>(</a:t>
            </a:r>
            <a:r>
              <a:rPr sz="2000">
                <a:latin typeface="Times New Roman" panose="02020603050405020304" charset="0"/>
                <a:cs typeface="Times New Roman" panose="02020603050405020304" charset="0"/>
                <a:sym typeface="+mn-ea"/>
              </a:rPr>
              <a:t>the complaint text available for classification</a:t>
            </a:r>
            <a:r>
              <a:rPr lang="en-US" sz="2000">
                <a:latin typeface="Times New Roman" panose="02020603050405020304" charset="0"/>
                <a:cs typeface="Times New Roman" panose="02020603050405020304" charset="0"/>
                <a:sym typeface="+mn-ea"/>
              </a:rPr>
              <a:t>)</a:t>
            </a:r>
            <a:r>
              <a:rPr sz="2000">
                <a:latin typeface="Times New Roman" panose="02020603050405020304" charset="0"/>
                <a:cs typeface="Times New Roman" panose="02020603050405020304" charset="0"/>
                <a:sym typeface="+mn-ea"/>
              </a:rPr>
              <a:t>.</a:t>
            </a:r>
            <a:endParaRPr sz="2000">
              <a:latin typeface="Times New Roman" panose="02020603050405020304" charset="0"/>
              <a:cs typeface="Times New Roman" panose="02020603050405020304" charset="0"/>
              <a:sym typeface="+mn-ea"/>
            </a:endParaRPr>
          </a:p>
          <a:p>
            <a:pPr>
              <a:spcAft>
                <a:spcPts val="900"/>
              </a:spcAft>
              <a:defRPr sz="1900">
                <a:solidFill>
                  <a:srgbClr val="232323"/>
                </a:solidFill>
              </a:defRPr>
            </a:pPr>
            <a:r>
              <a:rPr sz="2000">
                <a:latin typeface="Times New Roman" panose="02020603050405020304" charset="0"/>
                <a:cs typeface="Times New Roman" panose="02020603050405020304" charset="0"/>
                <a:sym typeface="+mn-ea"/>
              </a:rPr>
              <a:t>The model learns from narrative text rather than from the final outcome of the complaint.</a:t>
            </a:r>
            <a:endParaRPr sz="2000">
              <a:latin typeface="Times New Roman" panose="02020603050405020304" charset="0"/>
              <a:cs typeface="Times New Roman" panose="02020603050405020304" charset="0"/>
              <a:sym typeface="+mn-ea"/>
            </a:endParaRPr>
          </a:p>
          <a:p>
            <a:pPr>
              <a:spcAft>
                <a:spcPts val="900"/>
              </a:spcAft>
              <a:defRPr sz="1900">
                <a:solidFill>
                  <a:srgbClr val="232323"/>
                </a:solidFill>
              </a:defRPr>
            </a:pPr>
            <a:r>
              <a:rPr sz="2000">
                <a:latin typeface="Times New Roman" panose="02020603050405020304" charset="0"/>
                <a:cs typeface="Times New Roman" panose="02020603050405020304" charset="0"/>
                <a:sym typeface="+mn-ea"/>
              </a:rPr>
              <a:t>Post-resolution fields are not appropriate inputs for an intake-time routing system because they would not be available when a new complaint arrives.</a:t>
            </a:r>
            <a:r>
              <a:rPr lang="en-US" altLang="en-US" sz="2000">
                <a:latin typeface="Times New Roman" panose="02020603050405020304" charset="0"/>
                <a:cs typeface="Times New Roman" panose="02020603050405020304" charset="0"/>
                <a:sym typeface="+mn-ea"/>
              </a:rPr>
              <a:t>The model focused on consumer complaint and products category because those are the deciding factors needed for the initial routing. </a:t>
            </a:r>
            <a:endParaRPr lang="en-US" altLang="en-US" sz="2000">
              <a:latin typeface="Times New Roman" panose="02020603050405020304" charset="0"/>
              <a:cs typeface="Times New Roman" panose="02020603050405020304" charset="0"/>
              <a:sym typeface="+mn-ea"/>
            </a:endParaRPr>
          </a:p>
          <a:p>
            <a:pPr>
              <a:spcAft>
                <a:spcPts val="900"/>
              </a:spcAft>
              <a:defRPr sz="1900">
                <a:solidFill>
                  <a:srgbClr val="232323"/>
                </a:solidFill>
              </a:defRPr>
            </a:pPr>
            <a:r>
              <a:rPr sz="2000">
                <a:latin typeface="Times New Roman" panose="02020603050405020304" charset="0"/>
                <a:cs typeface="Times New Roman" panose="02020603050405020304" charset="0"/>
                <a:sym typeface="+mn-ea"/>
              </a:rPr>
              <a:t>This keeps the model aligned with the intended deployment process.</a:t>
            </a:r>
            <a:endParaRPr sz="2000">
              <a:latin typeface="Times New Roman" panose="02020603050405020304" charset="0"/>
              <a:cs typeface="Times New Roman" panose="02020603050405020304" charset="0"/>
              <a:sym typeface="+mn-ea"/>
            </a:endParaRPr>
          </a:p>
          <a:p>
            <a:endParaRPr lang="en-US" sz="20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sz="2400">
                <a:latin typeface="Arial Black" panose="020B0A04020102020204" charset="0"/>
                <a:cs typeface="Arial Black" panose="020B0A04020102020204" charset="0"/>
              </a:rPr>
              <a:t>SUCCESS METRIC AND THRESHOLD POLICY</a:t>
            </a:r>
            <a:endParaRPr lang="en-US" sz="2400">
              <a:latin typeface="Arial Black" panose="020B0A04020102020204" charset="0"/>
              <a:cs typeface="Arial Black" panose="020B0A04020102020204" charset="0"/>
            </a:endParaRPr>
          </a:p>
        </p:txBody>
      </p:sp>
      <p:sp>
        <p:nvSpPr>
          <p:cNvPr id="3" name="Content Placeholder 2"/>
          <p:cNvSpPr>
            <a:spLocks noGrp="1"/>
          </p:cNvSpPr>
          <p:nvPr>
            <p:ph idx="1"/>
            <p:custDataLst>
              <p:tags r:id="rId2"/>
            </p:custDataLst>
          </p:nvPr>
        </p:nvSpPr>
        <p:spPr/>
        <p:txBody>
          <a:bodyPr>
            <a:normAutofit fontScale="90000" lnSpcReduction="20000"/>
          </a:bodyPr>
          <a:p>
            <a:pPr>
              <a:spcAft>
                <a:spcPts val="1000"/>
              </a:spcAft>
              <a:defRPr sz="2000"/>
            </a:pPr>
            <a:r>
              <a:rPr sz="2220">
                <a:solidFill>
                  <a:schemeClr val="tx1"/>
                </a:solidFill>
                <a:latin typeface="Times New Roman" panose="02020603050405020304" charset="0"/>
                <a:cs typeface="Times New Roman" panose="02020603050405020304" charset="0"/>
                <a:sym typeface="+mn-ea"/>
              </a:rPr>
              <a:t>Primary metric:  F1-score.</a:t>
            </a:r>
            <a:endParaRPr sz="2220">
              <a:solidFill>
                <a:schemeClr val="tx1"/>
              </a:solidFill>
              <a:latin typeface="Times New Roman" panose="02020603050405020304" charset="0"/>
              <a:cs typeface="Times New Roman" panose="02020603050405020304" charset="0"/>
              <a:sym typeface="+mn-ea"/>
            </a:endParaRPr>
          </a:p>
          <a:p>
            <a:pPr>
              <a:spcAft>
                <a:spcPts val="1000"/>
              </a:spcAft>
              <a:defRPr sz="2000"/>
            </a:pPr>
            <a:r>
              <a:rPr sz="2220">
                <a:solidFill>
                  <a:schemeClr val="tx1"/>
                </a:solidFill>
                <a:latin typeface="Times New Roman" panose="02020603050405020304" charset="0"/>
                <a:cs typeface="Times New Roman" panose="02020603050405020304" charset="0"/>
                <a:sym typeface="+mn-ea"/>
              </a:rPr>
              <a:t>F1 balances precision and recall, which is important because both missed categories and incorrect routing matter.</a:t>
            </a:r>
            <a:r>
              <a:rPr lang="en-US" sz="2220">
                <a:solidFill>
                  <a:schemeClr val="tx1"/>
                </a:solidFill>
                <a:latin typeface="Times New Roman" panose="02020603050405020304" charset="0"/>
                <a:cs typeface="Times New Roman" panose="02020603050405020304" charset="0"/>
                <a:sym typeface="+mn-ea"/>
              </a:rPr>
              <a:t> </a:t>
            </a:r>
            <a:r>
              <a:rPr lang="en-US" altLang="en-US" sz="2220">
                <a:solidFill>
                  <a:schemeClr val="tx1"/>
                </a:solidFill>
                <a:latin typeface="Times New Roman" panose="02020603050405020304" charset="0"/>
                <a:cs typeface="Times New Roman" panose="02020603050405020304" charset="0"/>
                <a:sym typeface="+mn-ea"/>
              </a:rPr>
              <a:t>This prevent the largest complaint category from dominating the learning process, and allow it pay more attention to the minority</a:t>
            </a:r>
            <a:r>
              <a:rPr sz="2220">
                <a:solidFill>
                  <a:schemeClr val="tx1"/>
                </a:solidFill>
                <a:latin typeface="Times New Roman" panose="02020603050405020304" charset="0"/>
                <a:cs typeface="Times New Roman" panose="02020603050405020304" charset="0"/>
                <a:sym typeface="+mn-ea"/>
              </a:rPr>
              <a:t>.</a:t>
            </a:r>
            <a:endParaRPr sz="2220">
              <a:solidFill>
                <a:schemeClr val="tx1"/>
              </a:solidFill>
              <a:latin typeface="Times New Roman" panose="02020603050405020304" charset="0"/>
              <a:cs typeface="Times New Roman" panose="02020603050405020304" charset="0"/>
              <a:sym typeface="+mn-ea"/>
            </a:endParaRPr>
          </a:p>
          <a:p>
            <a:pPr>
              <a:spcAft>
                <a:spcPts val="1000"/>
              </a:spcAft>
              <a:defRPr sz="2000"/>
            </a:pPr>
            <a:r>
              <a:rPr sz="2220">
                <a:solidFill>
                  <a:schemeClr val="tx1"/>
                </a:solidFill>
                <a:latin typeface="Times New Roman" panose="02020603050405020304" charset="0"/>
                <a:cs typeface="Times New Roman" panose="02020603050405020304" charset="0"/>
                <a:sym typeface="+mn-ea"/>
              </a:rPr>
              <a:t>Accuracy</a:t>
            </a:r>
            <a:r>
              <a:rPr lang="en-US" sz="2220">
                <a:solidFill>
                  <a:schemeClr val="tx1"/>
                </a:solidFill>
                <a:latin typeface="Times New Roman" panose="02020603050405020304" charset="0"/>
                <a:cs typeface="Times New Roman" panose="02020603050405020304" charset="0"/>
                <a:sym typeface="+mn-ea"/>
              </a:rPr>
              <a:t>, precision and recall</a:t>
            </a:r>
            <a:r>
              <a:rPr sz="2220">
                <a:solidFill>
                  <a:schemeClr val="tx1"/>
                </a:solidFill>
                <a:latin typeface="Times New Roman" panose="02020603050405020304" charset="0"/>
                <a:cs typeface="Times New Roman" panose="02020603050405020304" charset="0"/>
                <a:sym typeface="+mn-ea"/>
              </a:rPr>
              <a:t> are reported as supporting metrics.</a:t>
            </a:r>
            <a:endParaRPr sz="2220">
              <a:solidFill>
                <a:schemeClr val="tx1"/>
              </a:solidFill>
              <a:latin typeface="Times New Roman" panose="02020603050405020304" charset="0"/>
              <a:cs typeface="Times New Roman" panose="02020603050405020304" charset="0"/>
              <a:sym typeface="+mn-ea"/>
            </a:endParaRPr>
          </a:p>
          <a:p>
            <a:pPr>
              <a:spcAft>
                <a:spcPts val="1000"/>
              </a:spcAft>
              <a:defRPr sz="2000"/>
            </a:pPr>
            <a:r>
              <a:rPr sz="2220">
                <a:solidFill>
                  <a:schemeClr val="tx1"/>
                </a:solidFill>
                <a:latin typeface="Times New Roman" panose="02020603050405020304" charset="0"/>
                <a:cs typeface="Times New Roman" panose="02020603050405020304" charset="0"/>
                <a:sym typeface="+mn-ea"/>
              </a:rPr>
              <a:t>A 0.50 threshold was selected for the</a:t>
            </a:r>
            <a:r>
              <a:rPr lang="en-US" sz="2220">
                <a:solidFill>
                  <a:schemeClr val="tx1"/>
                </a:solidFill>
                <a:latin typeface="Times New Roman" panose="02020603050405020304" charset="0"/>
                <a:cs typeface="Times New Roman" panose="02020603050405020304" charset="0"/>
                <a:sym typeface="+mn-ea"/>
              </a:rPr>
              <a:t> model</a:t>
            </a:r>
            <a:r>
              <a:rPr sz="2220">
                <a:solidFill>
                  <a:schemeClr val="tx1"/>
                </a:solidFill>
                <a:latin typeface="Times New Roman" panose="02020603050405020304" charset="0"/>
                <a:cs typeface="Times New Roman" panose="02020603050405020304" charset="0"/>
                <a:sym typeface="+mn-ea"/>
              </a:rPr>
              <a:t>.</a:t>
            </a:r>
            <a:endParaRPr sz="2220">
              <a:solidFill>
                <a:schemeClr val="tx1"/>
              </a:solidFill>
              <a:latin typeface="Times New Roman" panose="02020603050405020304" charset="0"/>
              <a:cs typeface="Times New Roman" panose="02020603050405020304" charset="0"/>
              <a:sym typeface="+mn-ea"/>
            </a:endParaRPr>
          </a:p>
          <a:p>
            <a:pPr>
              <a:spcAft>
                <a:spcPts val="1000"/>
              </a:spcAft>
              <a:defRPr sz="2000"/>
            </a:pPr>
            <a:r>
              <a:rPr sz="2220">
                <a:solidFill>
                  <a:schemeClr val="tx1"/>
                </a:solidFill>
                <a:latin typeface="Times New Roman" panose="02020603050405020304" charset="0"/>
                <a:cs typeface="Times New Roman" panose="02020603050405020304" charset="0"/>
                <a:sym typeface="+mn-ea"/>
              </a:rPr>
              <a:t>At 0.50: 38/40 test complaints were auto-routed (95% coverage) with 78.9% accuracy; 2/40 were sent for human review.</a:t>
            </a:r>
            <a:endParaRPr sz="2220">
              <a:solidFill>
                <a:schemeClr val="tx1"/>
              </a:solidFill>
              <a:latin typeface="Times New Roman" panose="02020603050405020304" charset="0"/>
              <a:cs typeface="Times New Roman" panose="02020603050405020304" charset="0"/>
              <a:sym typeface="+mn-ea"/>
            </a:endParaRPr>
          </a:p>
          <a:p>
            <a:pPr>
              <a:spcAft>
                <a:spcPts val="1000"/>
              </a:spcAft>
              <a:defRPr sz="2000"/>
            </a:pPr>
            <a:r>
              <a:rPr sz="2220">
                <a:solidFill>
                  <a:schemeClr val="tx1"/>
                </a:solidFill>
                <a:latin typeface="Times New Roman" panose="02020603050405020304" charset="0"/>
                <a:cs typeface="Times New Roman" panose="02020603050405020304" charset="0"/>
                <a:sym typeface="+mn-ea"/>
              </a:rPr>
              <a:t>Higher thresholds sharply reduced coverage: </a:t>
            </a:r>
            <a:r>
              <a:rPr lang="en-US" sz="2220">
                <a:solidFill>
                  <a:schemeClr val="tx1"/>
                </a:solidFill>
                <a:latin typeface="Times New Roman" panose="02020603050405020304" charset="0"/>
                <a:cs typeface="Times New Roman" panose="02020603050405020304" charset="0"/>
                <a:sym typeface="+mn-ea"/>
              </a:rPr>
              <a:t>0.7</a:t>
            </a:r>
            <a:r>
              <a:rPr sz="2220">
                <a:solidFill>
                  <a:schemeClr val="tx1"/>
                </a:solidFill>
                <a:latin typeface="Times New Roman" panose="02020603050405020304" charset="0"/>
                <a:cs typeface="Times New Roman" panose="02020603050405020304" charset="0"/>
                <a:sym typeface="+mn-ea"/>
              </a:rPr>
              <a:t> gave 7.5% coverage</a:t>
            </a:r>
            <a:r>
              <a:rPr lang="en-US" sz="2220">
                <a:solidFill>
                  <a:schemeClr val="tx1"/>
                </a:solidFill>
                <a:latin typeface="Times New Roman" panose="02020603050405020304" charset="0"/>
                <a:cs typeface="Times New Roman" panose="02020603050405020304" charset="0"/>
                <a:sym typeface="+mn-ea"/>
              </a:rPr>
              <a:t>,</a:t>
            </a:r>
            <a:r>
              <a:rPr sz="2220">
                <a:solidFill>
                  <a:schemeClr val="tx1"/>
                </a:solidFill>
                <a:latin typeface="Times New Roman" panose="02020603050405020304" charset="0"/>
                <a:cs typeface="Times New Roman" panose="02020603050405020304" charset="0"/>
                <a:sym typeface="+mn-ea"/>
              </a:rPr>
              <a:t> </a:t>
            </a:r>
            <a:r>
              <a:rPr lang="en-US" sz="2220">
                <a:solidFill>
                  <a:schemeClr val="tx1"/>
                </a:solidFill>
                <a:latin typeface="Times New Roman" panose="02020603050405020304" charset="0"/>
                <a:cs typeface="Times New Roman" panose="02020603050405020304" charset="0"/>
                <a:sym typeface="+mn-ea"/>
              </a:rPr>
              <a:t>0.8</a:t>
            </a:r>
            <a:r>
              <a:rPr sz="2220">
                <a:solidFill>
                  <a:schemeClr val="tx1"/>
                </a:solidFill>
                <a:latin typeface="Times New Roman" panose="02020603050405020304" charset="0"/>
                <a:cs typeface="Times New Roman" panose="02020603050405020304" charset="0"/>
                <a:sym typeface="+mn-ea"/>
              </a:rPr>
              <a:t> gave 2.5%</a:t>
            </a:r>
            <a:r>
              <a:rPr lang="en-US" sz="2220">
                <a:solidFill>
                  <a:schemeClr val="tx1"/>
                </a:solidFill>
                <a:latin typeface="Times New Roman" panose="02020603050405020304" charset="0"/>
                <a:cs typeface="Times New Roman" panose="02020603050405020304" charset="0"/>
                <a:sym typeface="+mn-ea"/>
              </a:rPr>
              <a:t>, and 0.9 gave 0%.</a:t>
            </a:r>
            <a:endParaRPr sz="2220">
              <a:solidFill>
                <a:schemeClr val="tx1"/>
              </a:solidFill>
              <a:latin typeface="Times New Roman" panose="02020603050405020304" charset="0"/>
              <a:cs typeface="Times New Roman" panose="02020603050405020304" charset="0"/>
              <a:sym typeface="+mn-ea"/>
            </a:endParaRPr>
          </a:p>
          <a:p>
            <a:pPr>
              <a:spcAft>
                <a:spcPts val="1000"/>
              </a:spcAft>
              <a:defRPr sz="2000"/>
            </a:pPr>
            <a:endParaRPr lang="en-US">
              <a:solidFill>
                <a:schemeClr val="tx1"/>
              </a:solidFill>
              <a:latin typeface="Times New Roman" panose="02020603050405020304" charset="0"/>
              <a:cs typeface="Times New Roman" panose="02020603050405020304" charset="0"/>
              <a:sym typeface="+mn-ea"/>
            </a:endParaRPr>
          </a:p>
          <a:p>
            <a:pPr>
              <a:spcAft>
                <a:spcPts val="1000"/>
              </a:spcAft>
              <a:defRPr sz="2000"/>
            </a:pPr>
            <a:endParaRPr>
              <a:solidFill>
                <a:schemeClr val="tx1"/>
              </a:solidFill>
              <a:latin typeface="Times New Roman" panose="02020603050405020304" charset="0"/>
              <a:cs typeface="Times New Roman" panose="02020603050405020304" charset="0"/>
              <a:sym typeface="+mn-ea"/>
            </a:endParaRPr>
          </a:p>
          <a:p>
            <a:endParaRPr lang="en-US">
              <a:solidFill>
                <a:schemeClr val="tx1"/>
              </a:solidFill>
              <a:latin typeface="Times New Roman" panose="02020603050405020304" charset="0"/>
              <a:cs typeface="Times New Roman" panose="02020603050405020304" charset="0"/>
              <a:sym typeface="+mn-ea"/>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sz="2400">
                <a:latin typeface="Arial Black" panose="020B0A04020102020204" charset="0"/>
                <a:cs typeface="Arial Black" panose="020B0A04020102020204" charset="0"/>
              </a:rPr>
              <a:t>MODEL RESULTS</a:t>
            </a:r>
            <a:endParaRPr lang="en-US" sz="2400">
              <a:latin typeface="Arial Black" panose="020B0A04020102020204" charset="0"/>
              <a:cs typeface="Arial Black" panose="020B0A04020102020204" charset="0"/>
            </a:endParaRPr>
          </a:p>
        </p:txBody>
      </p:sp>
      <p:sp>
        <p:nvSpPr>
          <p:cNvPr id="3" name="Content Placeholder 2"/>
          <p:cNvSpPr>
            <a:spLocks noGrp="1"/>
          </p:cNvSpPr>
          <p:nvPr>
            <p:ph idx="1"/>
            <p:custDataLst>
              <p:tags r:id="rId2"/>
            </p:custDataLst>
          </p:nvPr>
        </p:nvSpPr>
        <p:spPr/>
        <p:txBody>
          <a:bodyPr/>
          <a:p>
            <a:pPr>
              <a:spcAft>
                <a:spcPts val="1000"/>
              </a:spcAft>
              <a:defRPr sz="2000"/>
            </a:pPr>
            <a:r>
              <a:rPr lang="en-US">
                <a:solidFill>
                  <a:schemeClr val="tx1"/>
                </a:solidFill>
                <a:latin typeface="Times New Roman" panose="02020603050405020304" charset="0"/>
                <a:cs typeface="Times New Roman" panose="02020603050405020304" charset="0"/>
                <a:sym typeface="+mn-ea"/>
              </a:rPr>
              <a:t>T</a:t>
            </a:r>
            <a:r>
              <a:rPr>
                <a:solidFill>
                  <a:schemeClr val="tx1"/>
                </a:solidFill>
                <a:latin typeface="Times New Roman" panose="02020603050405020304" charset="0"/>
                <a:cs typeface="Times New Roman" panose="02020603050405020304" charset="0"/>
                <a:sym typeface="+mn-ea"/>
              </a:rPr>
              <a:t>est accuracy: 77.5%.</a:t>
            </a:r>
            <a:endParaRPr>
              <a:solidFill>
                <a:schemeClr val="tx1"/>
              </a:solidFill>
              <a:latin typeface="Times New Roman" panose="02020603050405020304" charset="0"/>
              <a:cs typeface="Times New Roman" panose="02020603050405020304" charset="0"/>
              <a:sym typeface="+mn-ea"/>
            </a:endParaRPr>
          </a:p>
          <a:p>
            <a:pPr>
              <a:spcAft>
                <a:spcPts val="1000"/>
              </a:spcAft>
              <a:defRPr sz="2000"/>
            </a:pPr>
            <a:r>
              <a:rPr>
                <a:solidFill>
                  <a:schemeClr val="tx1"/>
                </a:solidFill>
                <a:latin typeface="Times New Roman" panose="02020603050405020304" charset="0"/>
                <a:cs typeface="Times New Roman" panose="02020603050405020304" charset="0"/>
                <a:sym typeface="+mn-ea"/>
              </a:rPr>
              <a:t>Weighted F1: approximately 0.77.</a:t>
            </a:r>
            <a:endParaRPr>
              <a:solidFill>
                <a:schemeClr val="tx1"/>
              </a:solidFill>
              <a:latin typeface="Times New Roman" panose="02020603050405020304" charset="0"/>
              <a:cs typeface="Times New Roman" panose="02020603050405020304" charset="0"/>
              <a:sym typeface="+mn-ea"/>
            </a:endParaRPr>
          </a:p>
          <a:p>
            <a:pPr>
              <a:spcAft>
                <a:spcPts val="1000"/>
              </a:spcAft>
              <a:defRPr sz="2000"/>
            </a:pPr>
            <a:r>
              <a:rPr lang="en-US">
                <a:solidFill>
                  <a:schemeClr val="tx1"/>
                </a:solidFill>
                <a:latin typeface="Times New Roman" panose="02020603050405020304" charset="0"/>
                <a:cs typeface="Times New Roman" panose="02020603050405020304" charset="0"/>
                <a:sym typeface="+mn-ea"/>
              </a:rPr>
              <a:t>Precision: 0.76, Recall:0.78.</a:t>
            </a:r>
            <a:endParaRPr>
              <a:solidFill>
                <a:schemeClr val="tx1"/>
              </a:solidFill>
              <a:latin typeface="Times New Roman" panose="02020603050405020304" charset="0"/>
              <a:cs typeface="Times New Roman" panose="02020603050405020304" charset="0"/>
              <a:sym typeface="+mn-ea"/>
            </a:endParaRPr>
          </a:p>
          <a:p>
            <a:pPr>
              <a:spcAft>
                <a:spcPts val="1000"/>
              </a:spcAft>
              <a:defRPr sz="2000"/>
            </a:pPr>
            <a:r>
              <a:rPr>
                <a:solidFill>
                  <a:schemeClr val="tx1"/>
                </a:solidFill>
                <a:latin typeface="Times New Roman" panose="02020603050405020304" charset="0"/>
                <a:cs typeface="Times New Roman" panose="02020603050405020304" charset="0"/>
                <a:sym typeface="+mn-ea"/>
              </a:rPr>
              <a:t>Debt Collection performed strongly (F1 ≈ 0.86), while Credit Reporting performed much worse (F1 ≈ 0.40).</a:t>
            </a:r>
            <a:endParaRPr>
              <a:solidFill>
                <a:schemeClr val="tx1"/>
              </a:solidFill>
              <a:latin typeface="Times New Roman" panose="02020603050405020304" charset="0"/>
              <a:cs typeface="Times New Roman" panose="02020603050405020304" charset="0"/>
              <a:sym typeface="+mn-ea"/>
            </a:endParaRPr>
          </a:p>
          <a:p>
            <a:endParaRPr lang="en-US">
              <a:solidFill>
                <a:schemeClr val="tx1"/>
              </a:solidFill>
              <a:latin typeface="Times New Roman" panose="02020603050405020304" charset="0"/>
              <a:cs typeface="Times New Roman" panose="02020603050405020304" charset="0"/>
              <a:sym typeface="+mn-ea"/>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11575" y="343605"/>
            <a:ext cx="10969200" cy="705600"/>
          </a:xfrm>
        </p:spPr>
        <p:txBody>
          <a:bodyPr/>
          <a:p>
            <a:pPr algn="ctr"/>
            <a:r>
              <a:rPr lang="en-US" sz="2400">
                <a:latin typeface="Arial Black" panose="020B0A04020102020204" charset="0"/>
                <a:cs typeface="Arial Black" panose="020B0A04020102020204" charset="0"/>
                <a:sym typeface="+mn-ea"/>
              </a:rPr>
              <a:t>DEPLOYMENT REALITY</a:t>
            </a:r>
            <a:endParaRPr lang="en-US" sz="2400">
              <a:latin typeface="Arial Black" panose="020B0A04020102020204" charset="0"/>
              <a:cs typeface="Arial Black" panose="020B0A04020102020204" charset="0"/>
              <a:sym typeface="+mn-ea"/>
            </a:endParaRPr>
          </a:p>
        </p:txBody>
      </p:sp>
      <p:sp>
        <p:nvSpPr>
          <p:cNvPr id="3" name="Content Placeholder 2"/>
          <p:cNvSpPr>
            <a:spLocks noGrp="1"/>
          </p:cNvSpPr>
          <p:nvPr>
            <p:ph idx="1"/>
            <p:custDataLst>
              <p:tags r:id="rId2"/>
            </p:custDataLst>
          </p:nvPr>
        </p:nvSpPr>
        <p:spPr>
          <a:xfrm>
            <a:off x="611575" y="1237035"/>
            <a:ext cx="10969200" cy="4759200"/>
          </a:xfrm>
        </p:spPr>
        <p:txBody>
          <a:bodyPr>
            <a:noAutofit/>
          </a:bodyPr>
          <a:p>
            <a:pPr>
              <a:spcAft>
                <a:spcPts val="1000"/>
              </a:spcAft>
              <a:defRPr sz="2000"/>
            </a:pPr>
            <a:r>
              <a:rPr sz="1900">
                <a:solidFill>
                  <a:schemeClr val="tx1"/>
                </a:solidFill>
                <a:latin typeface="Times New Roman" panose="02020603050405020304" charset="0"/>
                <a:cs typeface="Times New Roman" panose="02020603050405020304" charset="0"/>
                <a:sym typeface="+mn-ea"/>
              </a:rPr>
              <a:t>Primary users: complaint intake/customer-service staff responsible for routing complaints.</a:t>
            </a:r>
            <a:endParaRPr sz="1900">
              <a:solidFill>
                <a:schemeClr val="tx1"/>
              </a:solidFill>
              <a:latin typeface="Times New Roman" panose="02020603050405020304" charset="0"/>
              <a:cs typeface="Times New Roman" panose="02020603050405020304" charset="0"/>
              <a:sym typeface="+mn-ea"/>
            </a:endParaRPr>
          </a:p>
          <a:p>
            <a:pPr>
              <a:spcAft>
                <a:spcPts val="1000"/>
              </a:spcAft>
              <a:defRPr sz="2000"/>
            </a:pPr>
            <a:r>
              <a:rPr sz="1900">
                <a:solidFill>
                  <a:schemeClr val="tx1"/>
                </a:solidFill>
                <a:latin typeface="Times New Roman" panose="02020603050405020304" charset="0"/>
                <a:cs typeface="Times New Roman" panose="02020603050405020304" charset="0"/>
                <a:sym typeface="+mn-ea"/>
              </a:rPr>
              <a:t>The model should support staff rather than replace them.</a:t>
            </a:r>
            <a:endParaRPr sz="1900">
              <a:solidFill>
                <a:schemeClr val="tx1"/>
              </a:solidFill>
              <a:latin typeface="Times New Roman" panose="02020603050405020304" charset="0"/>
              <a:cs typeface="Times New Roman" panose="02020603050405020304" charset="0"/>
              <a:sym typeface="+mn-ea"/>
            </a:endParaRPr>
          </a:p>
          <a:p>
            <a:pPr>
              <a:spcAft>
                <a:spcPts val="1000"/>
              </a:spcAft>
              <a:defRPr sz="2000"/>
            </a:pPr>
            <a:r>
              <a:rPr sz="1900">
                <a:solidFill>
                  <a:schemeClr val="tx1"/>
                </a:solidFill>
                <a:latin typeface="Times New Roman" panose="02020603050405020304" charset="0"/>
                <a:cs typeface="Times New Roman" panose="02020603050405020304" charset="0"/>
                <a:sym typeface="+mn-ea"/>
              </a:rPr>
              <a:t>Workflow: complaint received → model predicts category + confidence → staff reviews recommendation → final routing decision.</a:t>
            </a:r>
            <a:endParaRPr sz="1900">
              <a:solidFill>
                <a:schemeClr val="tx1"/>
              </a:solidFill>
              <a:latin typeface="Times New Roman" panose="02020603050405020304" charset="0"/>
              <a:cs typeface="Times New Roman" panose="02020603050405020304" charset="0"/>
              <a:sym typeface="+mn-ea"/>
            </a:endParaRPr>
          </a:p>
          <a:p>
            <a:pPr>
              <a:spcAft>
                <a:spcPts val="1000"/>
              </a:spcAft>
              <a:defRPr sz="2000"/>
            </a:pPr>
            <a:r>
              <a:rPr sz="1900">
                <a:solidFill>
                  <a:schemeClr val="tx1"/>
                </a:solidFill>
                <a:latin typeface="Times New Roman" panose="02020603050405020304" charset="0"/>
                <a:cs typeface="Times New Roman" panose="02020603050405020304" charset="0"/>
                <a:sym typeface="+mn-ea"/>
              </a:rPr>
              <a:t>If adoption is partial, some complaints may be routed manually and others with the model, creating inconsistent routing and uneven workloads.</a:t>
            </a:r>
            <a:endParaRPr sz="1900">
              <a:solidFill>
                <a:schemeClr val="tx1"/>
              </a:solidFill>
              <a:latin typeface="Times New Roman" panose="02020603050405020304" charset="0"/>
              <a:cs typeface="Times New Roman" panose="02020603050405020304" charset="0"/>
              <a:sym typeface="+mn-ea"/>
            </a:endParaRPr>
          </a:p>
          <a:p>
            <a:pPr>
              <a:spcAft>
                <a:spcPts val="1000"/>
              </a:spcAft>
              <a:defRPr sz="2000"/>
            </a:pPr>
            <a:r>
              <a:rPr sz="1900">
                <a:solidFill>
                  <a:schemeClr val="tx1"/>
                </a:solidFill>
                <a:latin typeface="Times New Roman" panose="02020603050405020304" charset="0"/>
                <a:cs typeface="Times New Roman" panose="02020603050405020304" charset="0"/>
                <a:sym typeface="+mn-ea"/>
              </a:rPr>
              <a:t>Partial adoption can also make monitoring harder because feedback are incomplete.</a:t>
            </a:r>
            <a:endParaRPr sz="1900">
              <a:solidFill>
                <a:schemeClr val="tx1"/>
              </a:solidFill>
              <a:latin typeface="Times New Roman" panose="02020603050405020304" charset="0"/>
              <a:cs typeface="Times New Roman" panose="02020603050405020304" charset="0"/>
              <a:sym typeface="+mn-ea"/>
            </a:endParaRPr>
          </a:p>
          <a:p>
            <a:pPr>
              <a:spcAft>
                <a:spcPts val="900"/>
              </a:spcAft>
              <a:defRPr sz="1600">
                <a:solidFill>
                  <a:srgbClr val="232323"/>
                </a:solidFill>
              </a:defRPr>
            </a:pPr>
            <a:r>
              <a:rPr sz="1900">
                <a:solidFill>
                  <a:schemeClr val="tx1"/>
                </a:solidFill>
                <a:latin typeface="Times New Roman" panose="02020603050405020304" charset="0"/>
                <a:cs typeface="Times New Roman" panose="02020603050405020304" charset="0"/>
                <a:sym typeface="+mn-ea"/>
              </a:rPr>
              <a:t>Cost of a wrong route: possible delay or inappropriate handling for the consumer, plus correction/re-routing costs for the organization.</a:t>
            </a:r>
            <a:endParaRPr sz="1900">
              <a:solidFill>
                <a:schemeClr val="tx1"/>
              </a:solidFill>
              <a:latin typeface="Times New Roman" panose="02020603050405020304" charset="0"/>
              <a:cs typeface="Times New Roman" panose="02020603050405020304" charset="0"/>
              <a:sym typeface="+mn-ea"/>
            </a:endParaRPr>
          </a:p>
          <a:p>
            <a:endParaRPr lang="en-US" sz="1300">
              <a:solidFill>
                <a:schemeClr val="tx1"/>
              </a:solidFill>
              <a:latin typeface="Times New Roman" panose="02020603050405020304" charset="0"/>
              <a:cs typeface="Times New Roman" panose="02020603050405020304" charset="0"/>
              <a:sym typeface="+mn-ea"/>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sz="2400">
                <a:latin typeface="Arial Black" panose="020B0A04020102020204" charset="0"/>
                <a:cs typeface="Arial Black" panose="020B0A04020102020204" charset="0"/>
              </a:rPr>
              <a:t>BUSINESS RECOMMENDATION</a:t>
            </a:r>
            <a:endParaRPr lang="en-US" sz="2400">
              <a:latin typeface="Arial Black" panose="020B0A04020102020204" charset="0"/>
              <a:cs typeface="Arial Black" panose="020B0A04020102020204" charset="0"/>
            </a:endParaRPr>
          </a:p>
        </p:txBody>
      </p:sp>
      <p:sp>
        <p:nvSpPr>
          <p:cNvPr id="3" name="Content Placeholder 2"/>
          <p:cNvSpPr>
            <a:spLocks noGrp="1"/>
          </p:cNvSpPr>
          <p:nvPr>
            <p:ph idx="1"/>
            <p:custDataLst>
              <p:tags r:id="rId2"/>
            </p:custDataLst>
          </p:nvPr>
        </p:nvSpPr>
        <p:spPr/>
        <p:txBody>
          <a:bodyPr/>
          <a:p>
            <a:pPr>
              <a:spcAft>
                <a:spcPts val="1000"/>
              </a:spcAft>
              <a:defRPr sz="2000"/>
            </a:pPr>
            <a:r>
              <a:rPr>
                <a:solidFill>
                  <a:schemeClr val="tx1"/>
                </a:solidFill>
                <a:latin typeface="Times New Roman" panose="02020603050405020304" charset="0"/>
                <a:cs typeface="Times New Roman" panose="02020603050405020304" charset="0"/>
                <a:sym typeface="+mn-ea"/>
              </a:rPr>
              <a:t>Deploy the model initially as a decision-support tool rather than fully autonomous routing.</a:t>
            </a:r>
            <a:endParaRPr>
              <a:solidFill>
                <a:schemeClr val="tx1"/>
              </a:solidFill>
              <a:latin typeface="Times New Roman" panose="02020603050405020304" charset="0"/>
              <a:cs typeface="Times New Roman" panose="02020603050405020304" charset="0"/>
              <a:sym typeface="+mn-ea"/>
            </a:endParaRPr>
          </a:p>
          <a:p>
            <a:pPr>
              <a:spcAft>
                <a:spcPts val="1000"/>
              </a:spcAft>
              <a:defRPr sz="2000"/>
            </a:pPr>
            <a:r>
              <a:rPr>
                <a:solidFill>
                  <a:schemeClr val="tx1"/>
                </a:solidFill>
                <a:latin typeface="Times New Roman" panose="02020603050405020304" charset="0"/>
                <a:cs typeface="Times New Roman" panose="02020603050405020304" charset="0"/>
                <a:sym typeface="+mn-ea"/>
              </a:rPr>
              <a:t>Start with a 0.50 confidence threshold because it provides broad coverage in the current test set.</a:t>
            </a:r>
            <a:endParaRPr>
              <a:solidFill>
                <a:schemeClr val="tx1"/>
              </a:solidFill>
              <a:latin typeface="Times New Roman" panose="02020603050405020304" charset="0"/>
              <a:cs typeface="Times New Roman" panose="02020603050405020304" charset="0"/>
              <a:sym typeface="+mn-ea"/>
            </a:endParaRPr>
          </a:p>
          <a:p>
            <a:pPr>
              <a:spcAft>
                <a:spcPts val="1000"/>
              </a:spcAft>
              <a:defRPr sz="2000"/>
            </a:pPr>
            <a:r>
              <a:rPr>
                <a:solidFill>
                  <a:schemeClr val="tx1"/>
                </a:solidFill>
                <a:latin typeface="Times New Roman" panose="02020603050405020304" charset="0"/>
                <a:cs typeface="Times New Roman" panose="02020603050405020304" charset="0"/>
                <a:sym typeface="+mn-ea"/>
              </a:rPr>
              <a:t>Monitor F1, precision</a:t>
            </a:r>
            <a:r>
              <a:rPr lang="en-US">
                <a:solidFill>
                  <a:schemeClr val="tx1"/>
                </a:solidFill>
                <a:latin typeface="Times New Roman" panose="02020603050405020304" charset="0"/>
                <a:cs typeface="Times New Roman" panose="02020603050405020304" charset="0"/>
                <a:sym typeface="+mn-ea"/>
              </a:rPr>
              <a:t>, </a:t>
            </a:r>
            <a:r>
              <a:rPr>
                <a:solidFill>
                  <a:schemeClr val="tx1"/>
                </a:solidFill>
                <a:latin typeface="Times New Roman" panose="02020603050405020304" charset="0"/>
                <a:cs typeface="Times New Roman" panose="02020603050405020304" charset="0"/>
                <a:sym typeface="+mn-ea"/>
              </a:rPr>
              <a:t>recall, accuracy, </a:t>
            </a:r>
            <a:r>
              <a:rPr lang="en-US" altLang="en-US">
                <a:solidFill>
                  <a:schemeClr val="tx1"/>
                </a:solidFill>
                <a:latin typeface="Times New Roman" panose="02020603050405020304" charset="0"/>
                <a:cs typeface="Times New Roman" panose="02020603050405020304" charset="0"/>
                <a:sym typeface="+mn-ea"/>
              </a:rPr>
              <a:t>and the proportion of auto route-coverage vs human review</a:t>
            </a:r>
            <a:r>
              <a:rPr>
                <a:solidFill>
                  <a:schemeClr val="tx1"/>
                </a:solidFill>
                <a:latin typeface="Times New Roman" panose="02020603050405020304" charset="0"/>
                <a:cs typeface="Times New Roman" panose="02020603050405020304" charset="0"/>
                <a:sym typeface="+mn-ea"/>
              </a:rPr>
              <a:t>.</a:t>
            </a:r>
            <a:endParaRPr>
              <a:solidFill>
                <a:schemeClr val="tx1"/>
              </a:solidFill>
              <a:latin typeface="Times New Roman" panose="02020603050405020304" charset="0"/>
              <a:cs typeface="Times New Roman" panose="02020603050405020304" charset="0"/>
              <a:sym typeface="+mn-ea"/>
            </a:endParaRPr>
          </a:p>
          <a:p>
            <a:pPr>
              <a:spcAft>
                <a:spcPts val="1000"/>
              </a:spcAft>
              <a:defRPr sz="2000"/>
            </a:pPr>
            <a:r>
              <a:rPr>
                <a:solidFill>
                  <a:schemeClr val="tx1"/>
                </a:solidFill>
                <a:latin typeface="Times New Roman" panose="02020603050405020304" charset="0"/>
                <a:cs typeface="Times New Roman" panose="02020603050405020304" charset="0"/>
                <a:sym typeface="+mn-ea"/>
              </a:rPr>
              <a:t>Review performance regularly as new complaints arrive;</a:t>
            </a:r>
            <a:r>
              <a:rPr lang="en-US">
                <a:solidFill>
                  <a:schemeClr val="tx1"/>
                </a:solidFill>
                <a:latin typeface="Times New Roman" panose="02020603050405020304" charset="0"/>
                <a:cs typeface="Times New Roman" panose="02020603050405020304" charset="0"/>
                <a:sym typeface="+mn-ea"/>
              </a:rPr>
              <a:t> and</a:t>
            </a:r>
            <a:r>
              <a:rPr>
                <a:solidFill>
                  <a:schemeClr val="tx1"/>
                </a:solidFill>
                <a:latin typeface="Times New Roman" panose="02020603050405020304" charset="0"/>
                <a:cs typeface="Times New Roman" panose="02020603050405020304" charset="0"/>
                <a:sym typeface="+mn-ea"/>
              </a:rPr>
              <a:t> retrain</a:t>
            </a:r>
            <a:r>
              <a:rPr lang="en-US">
                <a:solidFill>
                  <a:schemeClr val="tx1"/>
                </a:solidFill>
                <a:latin typeface="Times New Roman" panose="02020603050405020304" charset="0"/>
                <a:cs typeface="Times New Roman" panose="02020603050405020304" charset="0"/>
                <a:sym typeface="+mn-ea"/>
              </a:rPr>
              <a:t>.</a:t>
            </a:r>
            <a:endParaRPr lang="en-US">
              <a:solidFill>
                <a:schemeClr val="tx1"/>
              </a:solidFill>
              <a:latin typeface="Times New Roman" panose="02020603050405020304" charset="0"/>
              <a:cs typeface="Times New Roman" panose="02020603050405020304" charset="0"/>
              <a:sym typeface="+mn-ea"/>
            </a:endParaRPr>
          </a:p>
          <a:p>
            <a:pPr>
              <a:spcAft>
                <a:spcPts val="1000"/>
              </a:spcAft>
              <a:defRPr sz="2000"/>
            </a:pPr>
            <a:r>
              <a:rPr>
                <a:solidFill>
                  <a:schemeClr val="tx1"/>
                </a:solidFill>
                <a:latin typeface="Times New Roman" panose="02020603050405020304" charset="0"/>
                <a:cs typeface="Times New Roman" panose="02020603050405020304" charset="0"/>
                <a:sym typeface="+mn-ea"/>
              </a:rPr>
              <a:t>Collect better labeled data over time, especially for underrepresented product categories.</a:t>
            </a:r>
            <a:endParaRPr>
              <a:solidFill>
                <a:schemeClr val="tx1"/>
              </a:solidFill>
              <a:latin typeface="Times New Roman" panose="02020603050405020304" charset="0"/>
              <a:cs typeface="Times New Roman" panose="02020603050405020304" charset="0"/>
              <a:sym typeface="+mn-ea"/>
            </a:endParaRPr>
          </a:p>
          <a:p>
            <a:endParaRPr lang="en-US">
              <a:solidFill>
                <a:schemeClr val="tx1"/>
              </a:solidFill>
              <a:latin typeface="Times New Roman" panose="02020603050405020304" charset="0"/>
              <a:cs typeface="Times New Roman" panose="02020603050405020304" charset="0"/>
              <a:sym typeface="+mn-ea"/>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sz="2400">
                <a:latin typeface="Arial Black" panose="020B0A04020102020204" charset="0"/>
                <a:cs typeface="Arial Black" panose="020B0A04020102020204" charset="0"/>
              </a:rPr>
              <a:t>CONCLUSION</a:t>
            </a:r>
            <a:endParaRPr lang="en-US" sz="2400">
              <a:latin typeface="Arial Black" panose="020B0A04020102020204" charset="0"/>
              <a:cs typeface="Arial Black" panose="020B0A04020102020204" charset="0"/>
            </a:endParaRPr>
          </a:p>
        </p:txBody>
      </p:sp>
      <p:sp>
        <p:nvSpPr>
          <p:cNvPr id="3" name="Content Placeholder 2"/>
          <p:cNvSpPr>
            <a:spLocks noGrp="1"/>
          </p:cNvSpPr>
          <p:nvPr>
            <p:ph idx="1"/>
            <p:custDataLst>
              <p:tags r:id="rId2"/>
            </p:custDataLst>
          </p:nvPr>
        </p:nvSpPr>
        <p:spPr/>
        <p:txBody>
          <a:bodyPr>
            <a:noAutofit/>
          </a:bodyPr>
          <a:p>
            <a:r>
              <a:rPr lang="en-US" altLang="en-US" sz="2000">
                <a:solidFill>
                  <a:schemeClr val="tx1"/>
                </a:solidFill>
                <a:latin typeface="Times New Roman" panose="02020603050405020304" charset="0"/>
                <a:cs typeface="Times New Roman" panose="02020603050405020304" charset="0"/>
              </a:rPr>
              <a:t>The project demonstrates how machine learning techniques can be applied to financial services consumer complaints. The use of TF-IDF and Logistic Regression provided a simple and explainable approach for converting complaint narratives into a form that could be used for classification.</a:t>
            </a:r>
            <a:endParaRPr lang="en-US" altLang="en-US" sz="2000">
              <a:solidFill>
                <a:schemeClr val="tx1"/>
              </a:solidFill>
              <a:latin typeface="Times New Roman" panose="02020603050405020304" charset="0"/>
              <a:cs typeface="Times New Roman" panose="02020603050405020304" charset="0"/>
            </a:endParaRPr>
          </a:p>
          <a:p>
            <a:pPr>
              <a:spcAft>
                <a:spcPts val="1000"/>
              </a:spcAft>
              <a:defRPr sz="2000"/>
            </a:pPr>
            <a:r>
              <a:rPr lang="en-US" altLang="en-US" sz="2000">
                <a:solidFill>
                  <a:schemeClr val="tx1"/>
                </a:solidFill>
                <a:latin typeface="Times New Roman" panose="02020603050405020304" charset="0"/>
                <a:cs typeface="Times New Roman" panose="02020603050405020304" charset="0"/>
              </a:rPr>
              <a:t>The results also demonstrated the importance of evaluating class distribution, rather than relying on accuracy alone. The strong imbalance in the dataset limited the model's ability to identify the minority complaint category. The confidence analysis further showed that the model requires human oversight for most predictions.</a:t>
            </a:r>
            <a:endParaRPr lang="en-US" altLang="en-US" sz="2000">
              <a:solidFill>
                <a:schemeClr val="tx1"/>
              </a:solidFill>
              <a:latin typeface="Times New Roman" panose="02020603050405020304" charset="0"/>
              <a:cs typeface="Times New Roman" panose="02020603050405020304" charset="0"/>
            </a:endParaRPr>
          </a:p>
          <a:p>
            <a:pPr>
              <a:spcAft>
                <a:spcPts val="1000"/>
              </a:spcAft>
              <a:defRPr sz="2000"/>
            </a:pPr>
            <a:r>
              <a:rPr lang="en-US" altLang="en-US" sz="2000">
                <a:solidFill>
                  <a:schemeClr val="tx1"/>
                </a:solidFill>
                <a:latin typeface="Times New Roman" panose="02020603050405020304" charset="0"/>
                <a:cs typeface="Times New Roman" panose="02020603050405020304" charset="0"/>
                <a:sym typeface="+mn-ea"/>
              </a:rPr>
              <a:t>Therefore, the developed system should be viewed as a prototype decision-support solution. Its performance and practical usefulness could be improved through the collection of a larger and more balanced dataset and further model development.</a:t>
            </a:r>
            <a:endParaRPr lang="en-US" altLang="en-US" sz="2000">
              <a:solidFill>
                <a:schemeClr val="tx1"/>
              </a:solidFill>
              <a:latin typeface="Times New Roman" panose="02020603050405020304" charset="0"/>
              <a:cs typeface="Times New Roman" panose="02020603050405020304" charset="0"/>
            </a:endParaRPr>
          </a:p>
          <a:p>
            <a:pPr marL="0" indent="0">
              <a:spcAft>
                <a:spcPts val="1000"/>
              </a:spcAft>
              <a:buNone/>
              <a:defRPr sz="2000"/>
            </a:pPr>
            <a:endParaRPr sz="1900">
              <a:sym typeface="+mn-ea"/>
            </a:endParaRPr>
          </a:p>
          <a:p>
            <a:endParaRPr lang="en-US" altLang="en-US" sz="1900">
              <a:solidFill>
                <a:schemeClr val="tx1"/>
              </a:solidFill>
              <a:latin typeface="Times New Roman" panose="02020603050405020304" charset="0"/>
              <a:cs typeface="Times New Roman" panose="02020603050405020304" charset="0"/>
            </a:endParaRPr>
          </a:p>
          <a:p>
            <a:endParaRPr lang="en-US" altLang="en-US" sz="1900">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6732</Words>
  <Application>WPS Presentation</Application>
  <PresentationFormat>Widescreen</PresentationFormat>
  <Paragraphs>99</Paragraphs>
  <Slides>12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SimSun</vt:lpstr>
      <vt:lpstr>Wingdings</vt:lpstr>
      <vt:lpstr>Wingdings</vt:lpstr>
      <vt:lpstr>Microsoft YaHei</vt:lpstr>
      <vt:lpstr>Arial Unicode MS</vt:lpstr>
      <vt:lpstr>Calibri</vt:lpstr>
      <vt:lpstr>Arial Black</vt:lpstr>
      <vt:lpstr>Times New Roman</vt:lpstr>
      <vt:lpstr>Yu Gothic UI Light</vt:lpstr>
      <vt:lpstr>Sitka Small Semibold</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Capstone Project   </dc:title>
  <dc:creator>USER</dc:creator>
  <cp:lastModifiedBy>Adeleke Azeezat</cp:lastModifiedBy>
  <cp:revision>12</cp:revision>
  <dcterms:created xsi:type="dcterms:W3CDTF">2026-10-07T22:43:26Z</dcterms:created>
  <dcterms:modified xsi:type="dcterms:W3CDTF">2026-10-08T00:19:17Z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A9E453F0BC6142E897860007A8710ECF_11</vt:lpwstr>
  </property>
</Properties>
</file>